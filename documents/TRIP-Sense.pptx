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Poppins Bold" panose="020B0604020202020204" charset="0"/>
      <p:regular r:id="rId13"/>
    </p:embeddedFont>
    <p:embeddedFont>
      <p:font typeface="Georgia Pro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Poppins" panose="020B0604020202020204" charset="0"/>
      <p:regular r:id="rId19"/>
    </p:embeddedFont>
    <p:embeddedFont>
      <p:font typeface="Georgia Pro" panose="020B0604020202020204" charset="0"/>
      <p:regular r:id="rId20"/>
    </p:embeddedFont>
    <p:embeddedFont>
      <p:font typeface="League Spartan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2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70663" y="5799568"/>
            <a:ext cx="4212504" cy="2477944"/>
            <a:chOff x="0" y="0"/>
            <a:chExt cx="138176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760" cy="812800"/>
            </a:xfrm>
            <a:custGeom>
              <a:avLst/>
              <a:gdLst/>
              <a:ahLst/>
              <a:cxnLst/>
              <a:rect l="l" t="t" r="r" b="b"/>
              <a:pathLst>
                <a:path w="1381760" h="812800">
                  <a:moveTo>
                    <a:pt x="62487" y="0"/>
                  </a:moveTo>
                  <a:lnTo>
                    <a:pt x="1319273" y="0"/>
                  </a:lnTo>
                  <a:cubicBezTo>
                    <a:pt x="1353784" y="0"/>
                    <a:pt x="1381760" y="27976"/>
                    <a:pt x="1381760" y="62487"/>
                  </a:cubicBezTo>
                  <a:lnTo>
                    <a:pt x="1381760" y="750313"/>
                  </a:lnTo>
                  <a:cubicBezTo>
                    <a:pt x="1381760" y="766886"/>
                    <a:pt x="1375177" y="782780"/>
                    <a:pt x="1363458" y="794498"/>
                  </a:cubicBezTo>
                  <a:cubicBezTo>
                    <a:pt x="1351740" y="806217"/>
                    <a:pt x="1335846" y="812800"/>
                    <a:pt x="1319273" y="812800"/>
                  </a:cubicBezTo>
                  <a:lnTo>
                    <a:pt x="62487" y="812800"/>
                  </a:lnTo>
                  <a:cubicBezTo>
                    <a:pt x="45914" y="812800"/>
                    <a:pt x="30020" y="806217"/>
                    <a:pt x="18302" y="794498"/>
                  </a:cubicBezTo>
                  <a:cubicBezTo>
                    <a:pt x="6583" y="782780"/>
                    <a:pt x="0" y="766886"/>
                    <a:pt x="0" y="750313"/>
                  </a:cubicBezTo>
                  <a:lnTo>
                    <a:pt x="0" y="62487"/>
                  </a:lnTo>
                  <a:cubicBezTo>
                    <a:pt x="0" y="45914"/>
                    <a:pt x="6583" y="30020"/>
                    <a:pt x="18302" y="18302"/>
                  </a:cubicBezTo>
                  <a:cubicBezTo>
                    <a:pt x="30020" y="6583"/>
                    <a:pt x="45914" y="0"/>
                    <a:pt x="624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1381760" cy="917575"/>
            </a:xfrm>
            <a:prstGeom prst="rect">
              <a:avLst/>
            </a:prstGeom>
          </p:spPr>
          <p:txBody>
            <a:bodyPr lIns="43208" tIns="43208" rIns="43208" bIns="43208" rtlCol="0" anchor="ctr"/>
            <a:lstStyle/>
            <a:p>
              <a:pPr algn="ctr">
                <a:lnSpc>
                  <a:spcPts val="34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774769" y="5971596"/>
            <a:ext cx="3804291" cy="2133886"/>
            <a:chOff x="0" y="0"/>
            <a:chExt cx="551958" cy="3096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51958" cy="309602"/>
            </a:xfrm>
            <a:custGeom>
              <a:avLst/>
              <a:gdLst/>
              <a:ahLst/>
              <a:cxnLst/>
              <a:rect l="l" t="t" r="r" b="b"/>
              <a:pathLst>
                <a:path w="551958" h="309602">
                  <a:moveTo>
                    <a:pt x="46806" y="0"/>
                  </a:moveTo>
                  <a:lnTo>
                    <a:pt x="505152" y="0"/>
                  </a:lnTo>
                  <a:cubicBezTo>
                    <a:pt x="531002" y="0"/>
                    <a:pt x="551958" y="20956"/>
                    <a:pt x="551958" y="46806"/>
                  </a:cubicBezTo>
                  <a:lnTo>
                    <a:pt x="551958" y="262796"/>
                  </a:lnTo>
                  <a:cubicBezTo>
                    <a:pt x="551958" y="275209"/>
                    <a:pt x="547026" y="287115"/>
                    <a:pt x="538249" y="295893"/>
                  </a:cubicBezTo>
                  <a:cubicBezTo>
                    <a:pt x="529471" y="304670"/>
                    <a:pt x="517565" y="309602"/>
                    <a:pt x="505152" y="309602"/>
                  </a:cubicBezTo>
                  <a:lnTo>
                    <a:pt x="46806" y="309602"/>
                  </a:lnTo>
                  <a:cubicBezTo>
                    <a:pt x="20956" y="309602"/>
                    <a:pt x="0" y="288646"/>
                    <a:pt x="0" y="262796"/>
                  </a:cubicBezTo>
                  <a:lnTo>
                    <a:pt x="0" y="46806"/>
                  </a:lnTo>
                  <a:cubicBezTo>
                    <a:pt x="0" y="20956"/>
                    <a:pt x="20956" y="0"/>
                    <a:pt x="46806" y="0"/>
                  </a:cubicBezTo>
                  <a:close/>
                </a:path>
              </a:pathLst>
            </a:custGeom>
            <a:blipFill>
              <a:blip r:embed="rId3"/>
              <a:stretch>
                <a:fillRect t="-83588" b="-835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910510" y="5799568"/>
            <a:ext cx="4212504" cy="2477944"/>
            <a:chOff x="0" y="0"/>
            <a:chExt cx="138176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1760" cy="812800"/>
            </a:xfrm>
            <a:custGeom>
              <a:avLst/>
              <a:gdLst/>
              <a:ahLst/>
              <a:cxnLst/>
              <a:rect l="l" t="t" r="r" b="b"/>
              <a:pathLst>
                <a:path w="1381760" h="812800">
                  <a:moveTo>
                    <a:pt x="62487" y="0"/>
                  </a:moveTo>
                  <a:lnTo>
                    <a:pt x="1319273" y="0"/>
                  </a:lnTo>
                  <a:cubicBezTo>
                    <a:pt x="1353784" y="0"/>
                    <a:pt x="1381760" y="27976"/>
                    <a:pt x="1381760" y="62487"/>
                  </a:cubicBezTo>
                  <a:lnTo>
                    <a:pt x="1381760" y="750313"/>
                  </a:lnTo>
                  <a:cubicBezTo>
                    <a:pt x="1381760" y="766886"/>
                    <a:pt x="1375177" y="782780"/>
                    <a:pt x="1363458" y="794498"/>
                  </a:cubicBezTo>
                  <a:cubicBezTo>
                    <a:pt x="1351740" y="806217"/>
                    <a:pt x="1335846" y="812800"/>
                    <a:pt x="1319273" y="812800"/>
                  </a:cubicBezTo>
                  <a:lnTo>
                    <a:pt x="62487" y="812800"/>
                  </a:lnTo>
                  <a:cubicBezTo>
                    <a:pt x="45914" y="812800"/>
                    <a:pt x="30020" y="806217"/>
                    <a:pt x="18302" y="794498"/>
                  </a:cubicBezTo>
                  <a:cubicBezTo>
                    <a:pt x="6583" y="782780"/>
                    <a:pt x="0" y="766886"/>
                    <a:pt x="0" y="750313"/>
                  </a:cubicBezTo>
                  <a:lnTo>
                    <a:pt x="0" y="62487"/>
                  </a:lnTo>
                  <a:cubicBezTo>
                    <a:pt x="0" y="45914"/>
                    <a:pt x="6583" y="30020"/>
                    <a:pt x="18302" y="18302"/>
                  </a:cubicBezTo>
                  <a:cubicBezTo>
                    <a:pt x="30020" y="6583"/>
                    <a:pt x="45914" y="0"/>
                    <a:pt x="624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1381760" cy="917575"/>
            </a:xfrm>
            <a:prstGeom prst="rect">
              <a:avLst/>
            </a:prstGeom>
          </p:spPr>
          <p:txBody>
            <a:bodyPr lIns="43208" tIns="43208" rIns="43208" bIns="43208" rtlCol="0" anchor="ctr"/>
            <a:lstStyle/>
            <a:p>
              <a:pPr algn="ctr">
                <a:lnSpc>
                  <a:spcPts val="34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14617" y="5971596"/>
            <a:ext cx="3804291" cy="2133886"/>
            <a:chOff x="0" y="0"/>
            <a:chExt cx="551958" cy="3096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1958" cy="309602"/>
            </a:xfrm>
            <a:custGeom>
              <a:avLst/>
              <a:gdLst/>
              <a:ahLst/>
              <a:cxnLst/>
              <a:rect l="l" t="t" r="r" b="b"/>
              <a:pathLst>
                <a:path w="551958" h="309602">
                  <a:moveTo>
                    <a:pt x="46806" y="0"/>
                  </a:moveTo>
                  <a:lnTo>
                    <a:pt x="505152" y="0"/>
                  </a:lnTo>
                  <a:cubicBezTo>
                    <a:pt x="531002" y="0"/>
                    <a:pt x="551958" y="20956"/>
                    <a:pt x="551958" y="46806"/>
                  </a:cubicBezTo>
                  <a:lnTo>
                    <a:pt x="551958" y="262796"/>
                  </a:lnTo>
                  <a:cubicBezTo>
                    <a:pt x="551958" y="275209"/>
                    <a:pt x="547026" y="287115"/>
                    <a:pt x="538249" y="295893"/>
                  </a:cubicBezTo>
                  <a:cubicBezTo>
                    <a:pt x="529471" y="304670"/>
                    <a:pt x="517565" y="309602"/>
                    <a:pt x="505152" y="309602"/>
                  </a:cubicBezTo>
                  <a:lnTo>
                    <a:pt x="46806" y="309602"/>
                  </a:lnTo>
                  <a:cubicBezTo>
                    <a:pt x="20956" y="309602"/>
                    <a:pt x="0" y="288646"/>
                    <a:pt x="0" y="262796"/>
                  </a:cubicBezTo>
                  <a:lnTo>
                    <a:pt x="0" y="46806"/>
                  </a:lnTo>
                  <a:cubicBezTo>
                    <a:pt x="0" y="20956"/>
                    <a:pt x="20956" y="0"/>
                    <a:pt x="46806" y="0"/>
                  </a:cubicBezTo>
                  <a:close/>
                </a:path>
              </a:pathLst>
            </a:custGeom>
            <a:blipFill>
              <a:blip r:embed="rId4"/>
              <a:stretch>
                <a:fillRect t="-8670" b="-8670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412934" y="2720879"/>
            <a:ext cx="12505974" cy="181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22"/>
              </a:lnSpc>
            </a:pPr>
            <a:r>
              <a:rPr lang="en-US" sz="13981" b="1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TRIP-SENSE: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32947" y="4673600"/>
            <a:ext cx="10170547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 spc="956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DYNAMIC TRAVEL PLANNER USING NLP &amp; HYBRID MACHINE LEARNING MODELS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980281"/>
            <a:ext cx="365207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Travel Presentation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07224" y="8980281"/>
            <a:ext cx="365207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15702" y="1724883"/>
            <a:ext cx="8476872" cy="6346440"/>
            <a:chOff x="0" y="0"/>
            <a:chExt cx="2877029" cy="2153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77029" cy="2153966"/>
            </a:xfrm>
            <a:custGeom>
              <a:avLst/>
              <a:gdLst/>
              <a:ahLst/>
              <a:cxnLst/>
              <a:rect l="l" t="t" r="r" b="b"/>
              <a:pathLst>
                <a:path w="2877029" h="2153966">
                  <a:moveTo>
                    <a:pt x="35879" y="0"/>
                  </a:moveTo>
                  <a:lnTo>
                    <a:pt x="2841150" y="0"/>
                  </a:lnTo>
                  <a:cubicBezTo>
                    <a:pt x="2850666" y="0"/>
                    <a:pt x="2859792" y="3780"/>
                    <a:pt x="2866521" y="10509"/>
                  </a:cubicBezTo>
                  <a:cubicBezTo>
                    <a:pt x="2873249" y="17237"/>
                    <a:pt x="2877029" y="26363"/>
                    <a:pt x="2877029" y="35879"/>
                  </a:cubicBezTo>
                  <a:lnTo>
                    <a:pt x="2877029" y="2118087"/>
                  </a:lnTo>
                  <a:cubicBezTo>
                    <a:pt x="2877029" y="2127602"/>
                    <a:pt x="2873249" y="2136728"/>
                    <a:pt x="2866521" y="2143457"/>
                  </a:cubicBezTo>
                  <a:cubicBezTo>
                    <a:pt x="2859792" y="2150186"/>
                    <a:pt x="2850666" y="2153966"/>
                    <a:pt x="2841150" y="2153966"/>
                  </a:cubicBezTo>
                  <a:lnTo>
                    <a:pt x="35879" y="2153966"/>
                  </a:lnTo>
                  <a:cubicBezTo>
                    <a:pt x="26363" y="2153966"/>
                    <a:pt x="17237" y="2150186"/>
                    <a:pt x="10509" y="2143457"/>
                  </a:cubicBezTo>
                  <a:cubicBezTo>
                    <a:pt x="3780" y="2136728"/>
                    <a:pt x="0" y="2127602"/>
                    <a:pt x="0" y="2118087"/>
                  </a:cubicBezTo>
                  <a:lnTo>
                    <a:pt x="0" y="35879"/>
                  </a:lnTo>
                  <a:cubicBezTo>
                    <a:pt x="0" y="26363"/>
                    <a:pt x="3780" y="17237"/>
                    <a:pt x="10509" y="10509"/>
                  </a:cubicBezTo>
                  <a:cubicBezTo>
                    <a:pt x="17237" y="3780"/>
                    <a:pt x="26363" y="0"/>
                    <a:pt x="35879" y="0"/>
                  </a:cubicBezTo>
                  <a:close/>
                </a:path>
              </a:pathLst>
            </a:custGeom>
            <a:solidFill>
              <a:srgbClr val="001737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77029" cy="21920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81648" y="2544421"/>
            <a:ext cx="7977652" cy="4652466"/>
            <a:chOff x="0" y="0"/>
            <a:chExt cx="596193" cy="3476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193" cy="347692"/>
            </a:xfrm>
            <a:custGeom>
              <a:avLst/>
              <a:gdLst/>
              <a:ahLst/>
              <a:cxnLst/>
              <a:rect l="l" t="t" r="r" b="b"/>
              <a:pathLst>
                <a:path w="596193" h="347692">
                  <a:moveTo>
                    <a:pt x="22320" y="0"/>
                  </a:moveTo>
                  <a:lnTo>
                    <a:pt x="573872" y="0"/>
                  </a:lnTo>
                  <a:cubicBezTo>
                    <a:pt x="586200" y="0"/>
                    <a:pt x="596193" y="9993"/>
                    <a:pt x="596193" y="22320"/>
                  </a:cubicBezTo>
                  <a:lnTo>
                    <a:pt x="596193" y="325372"/>
                  </a:lnTo>
                  <a:cubicBezTo>
                    <a:pt x="596193" y="331292"/>
                    <a:pt x="593841" y="336969"/>
                    <a:pt x="589655" y="341155"/>
                  </a:cubicBezTo>
                  <a:cubicBezTo>
                    <a:pt x="585469" y="345341"/>
                    <a:pt x="579792" y="347692"/>
                    <a:pt x="573872" y="347692"/>
                  </a:cubicBezTo>
                  <a:lnTo>
                    <a:pt x="22320" y="347692"/>
                  </a:lnTo>
                  <a:cubicBezTo>
                    <a:pt x="16401" y="347692"/>
                    <a:pt x="10723" y="345341"/>
                    <a:pt x="6537" y="341155"/>
                  </a:cubicBezTo>
                  <a:cubicBezTo>
                    <a:pt x="2352" y="336969"/>
                    <a:pt x="0" y="331292"/>
                    <a:pt x="0" y="325372"/>
                  </a:cubicBezTo>
                  <a:lnTo>
                    <a:pt x="0" y="22320"/>
                  </a:lnTo>
                  <a:cubicBezTo>
                    <a:pt x="0" y="16401"/>
                    <a:pt x="2352" y="10723"/>
                    <a:pt x="6537" y="6537"/>
                  </a:cubicBezTo>
                  <a:cubicBezTo>
                    <a:pt x="10723" y="2352"/>
                    <a:pt x="16401" y="0"/>
                    <a:pt x="22320" y="0"/>
                  </a:cubicBezTo>
                  <a:close/>
                </a:path>
              </a:pathLst>
            </a:custGeom>
            <a:blipFill>
              <a:blip r:embed="rId2"/>
              <a:stretch>
                <a:fillRect t="-7209" b="-720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88120" y="2362798"/>
            <a:ext cx="6880590" cy="109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001737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2174" y="5048250"/>
            <a:ext cx="7644178" cy="2391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2"/>
              </a:lnSpc>
            </a:pPr>
            <a:r>
              <a:rPr lang="en-US" sz="1913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TRIP-Sense - short for Travel Recommendation &amp; Intelligent Planning - is an AI-driven travel companion that designs trips dynamically based on user preferences, budget, and real-time context. It doesn’t just list places - it learns the traveler. The “Sense” represents awareness - understanding your interests, weather, and surroundings to adapt plans intelligently.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4152900"/>
            <a:ext cx="4297636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2946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</a:t>
            </a:r>
            <a:r>
              <a:rPr lang="en-US" sz="2946" dirty="0" smtClean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TRIP-Sense</a:t>
            </a:r>
            <a:r>
              <a:rPr lang="en-US" sz="2946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29773" y="2492878"/>
            <a:ext cx="19747546" cy="2805250"/>
            <a:chOff x="0" y="0"/>
            <a:chExt cx="6702268" cy="9520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02268" cy="952095"/>
            </a:xfrm>
            <a:custGeom>
              <a:avLst/>
              <a:gdLst/>
              <a:ahLst/>
              <a:cxnLst/>
              <a:rect l="l" t="t" r="r" b="b"/>
              <a:pathLst>
                <a:path w="6702268" h="952095">
                  <a:moveTo>
                    <a:pt x="15402" y="0"/>
                  </a:moveTo>
                  <a:lnTo>
                    <a:pt x="6686866" y="0"/>
                  </a:lnTo>
                  <a:cubicBezTo>
                    <a:pt x="6695372" y="0"/>
                    <a:pt x="6702268" y="6896"/>
                    <a:pt x="6702268" y="15402"/>
                  </a:cubicBezTo>
                  <a:lnTo>
                    <a:pt x="6702268" y="936693"/>
                  </a:lnTo>
                  <a:cubicBezTo>
                    <a:pt x="6702268" y="940778"/>
                    <a:pt x="6700645" y="944695"/>
                    <a:pt x="6697756" y="947584"/>
                  </a:cubicBezTo>
                  <a:cubicBezTo>
                    <a:pt x="6694868" y="950472"/>
                    <a:pt x="6690951" y="952095"/>
                    <a:pt x="6686866" y="952095"/>
                  </a:cubicBezTo>
                  <a:lnTo>
                    <a:pt x="15402" y="952095"/>
                  </a:lnTo>
                  <a:cubicBezTo>
                    <a:pt x="11317" y="952095"/>
                    <a:pt x="7399" y="950472"/>
                    <a:pt x="4511" y="947584"/>
                  </a:cubicBezTo>
                  <a:cubicBezTo>
                    <a:pt x="1623" y="944695"/>
                    <a:pt x="0" y="940778"/>
                    <a:pt x="0" y="936693"/>
                  </a:cubicBezTo>
                  <a:lnTo>
                    <a:pt x="0" y="15402"/>
                  </a:lnTo>
                  <a:cubicBezTo>
                    <a:pt x="0" y="11317"/>
                    <a:pt x="1623" y="7399"/>
                    <a:pt x="4511" y="4511"/>
                  </a:cubicBezTo>
                  <a:cubicBezTo>
                    <a:pt x="7399" y="1623"/>
                    <a:pt x="11317" y="0"/>
                    <a:pt x="15402" y="0"/>
                  </a:cubicBezTo>
                  <a:close/>
                </a:path>
              </a:pathLst>
            </a:custGeom>
            <a:solidFill>
              <a:srgbClr val="001737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702268" cy="990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1051" y="1822823"/>
            <a:ext cx="15345898" cy="4145360"/>
            <a:chOff x="0" y="0"/>
            <a:chExt cx="1146843" cy="3097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6843" cy="309795"/>
            </a:xfrm>
            <a:custGeom>
              <a:avLst/>
              <a:gdLst/>
              <a:ahLst/>
              <a:cxnLst/>
              <a:rect l="l" t="t" r="r" b="b"/>
              <a:pathLst>
                <a:path w="1146843" h="309795">
                  <a:moveTo>
                    <a:pt x="11603" y="0"/>
                  </a:moveTo>
                  <a:lnTo>
                    <a:pt x="1135240" y="0"/>
                  </a:lnTo>
                  <a:cubicBezTo>
                    <a:pt x="1138317" y="0"/>
                    <a:pt x="1141268" y="1222"/>
                    <a:pt x="1143444" y="3399"/>
                  </a:cubicBezTo>
                  <a:cubicBezTo>
                    <a:pt x="1145620" y="5575"/>
                    <a:pt x="1146843" y="8526"/>
                    <a:pt x="1146843" y="11603"/>
                  </a:cubicBezTo>
                  <a:lnTo>
                    <a:pt x="1146843" y="298191"/>
                  </a:lnTo>
                  <a:cubicBezTo>
                    <a:pt x="1146843" y="301269"/>
                    <a:pt x="1145620" y="304220"/>
                    <a:pt x="1143444" y="306396"/>
                  </a:cubicBezTo>
                  <a:cubicBezTo>
                    <a:pt x="1141268" y="308572"/>
                    <a:pt x="1138317" y="309795"/>
                    <a:pt x="1135240" y="309795"/>
                  </a:cubicBezTo>
                  <a:lnTo>
                    <a:pt x="11603" y="309795"/>
                  </a:lnTo>
                  <a:cubicBezTo>
                    <a:pt x="5195" y="309795"/>
                    <a:pt x="0" y="304600"/>
                    <a:pt x="0" y="298191"/>
                  </a:cubicBezTo>
                  <a:lnTo>
                    <a:pt x="0" y="11603"/>
                  </a:lnTo>
                  <a:cubicBezTo>
                    <a:pt x="0" y="8526"/>
                    <a:pt x="1222" y="5575"/>
                    <a:pt x="3399" y="3399"/>
                  </a:cubicBezTo>
                  <a:cubicBezTo>
                    <a:pt x="5575" y="1222"/>
                    <a:pt x="8526" y="0"/>
                    <a:pt x="11603" y="0"/>
                  </a:cubicBezTo>
                  <a:close/>
                </a:path>
              </a:pathLst>
            </a:custGeom>
            <a:blipFill>
              <a:blip r:embed="rId2"/>
              <a:stretch>
                <a:fillRect t="-73552" b="-7355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471051" y="6467475"/>
            <a:ext cx="6880590" cy="109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001737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The Idea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38779" y="6450827"/>
            <a:ext cx="9328589" cy="169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We’re building a smart ecosystem that learns what kind of traveler you are - food lover, explorer, peace seeker, or thrill hunter. Using Machine Learning, Natural Language Processing, and Live APIs, TRIP-Sense reacts to real-world conditions - recommending where to go, what to do, and when to do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72494"/>
            <a:ext cx="8684863" cy="11431988"/>
            <a:chOff x="0" y="0"/>
            <a:chExt cx="2947621" cy="38799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47621" cy="3879988"/>
            </a:xfrm>
            <a:custGeom>
              <a:avLst/>
              <a:gdLst/>
              <a:ahLst/>
              <a:cxnLst/>
              <a:rect l="l" t="t" r="r" b="b"/>
              <a:pathLst>
                <a:path w="2947621" h="3879988">
                  <a:moveTo>
                    <a:pt x="35020" y="0"/>
                  </a:moveTo>
                  <a:lnTo>
                    <a:pt x="2912601" y="0"/>
                  </a:lnTo>
                  <a:cubicBezTo>
                    <a:pt x="2931942" y="0"/>
                    <a:pt x="2947621" y="15679"/>
                    <a:pt x="2947621" y="35020"/>
                  </a:cubicBezTo>
                  <a:lnTo>
                    <a:pt x="2947621" y="3844968"/>
                  </a:lnTo>
                  <a:cubicBezTo>
                    <a:pt x="2947621" y="3854256"/>
                    <a:pt x="2943931" y="3863164"/>
                    <a:pt x="2937364" y="3869731"/>
                  </a:cubicBezTo>
                  <a:cubicBezTo>
                    <a:pt x="2930796" y="3876299"/>
                    <a:pt x="2921889" y="3879988"/>
                    <a:pt x="2912601" y="3879988"/>
                  </a:cubicBezTo>
                  <a:lnTo>
                    <a:pt x="35020" y="3879988"/>
                  </a:lnTo>
                  <a:cubicBezTo>
                    <a:pt x="25732" y="3879988"/>
                    <a:pt x="16825" y="3876299"/>
                    <a:pt x="10257" y="3869731"/>
                  </a:cubicBezTo>
                  <a:cubicBezTo>
                    <a:pt x="3690" y="3863164"/>
                    <a:pt x="0" y="3854256"/>
                    <a:pt x="0" y="3844968"/>
                  </a:cubicBezTo>
                  <a:lnTo>
                    <a:pt x="0" y="35020"/>
                  </a:lnTo>
                  <a:cubicBezTo>
                    <a:pt x="0" y="25732"/>
                    <a:pt x="3690" y="16825"/>
                    <a:pt x="10257" y="10257"/>
                  </a:cubicBezTo>
                  <a:cubicBezTo>
                    <a:pt x="16825" y="3690"/>
                    <a:pt x="25732" y="0"/>
                    <a:pt x="35020" y="0"/>
                  </a:cubicBezTo>
                  <a:close/>
                </a:path>
              </a:pathLst>
            </a:custGeom>
            <a:solidFill>
              <a:srgbClr val="001737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947621" cy="3918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954001" y="4130332"/>
            <a:ext cx="3029989" cy="4114800"/>
          </a:xfrm>
          <a:custGeom>
            <a:avLst/>
            <a:gdLst/>
            <a:ahLst/>
            <a:cxnLst/>
            <a:rect l="l" t="t" r="r" b="b"/>
            <a:pathLst>
              <a:path w="3029989" h="4114800">
                <a:moveTo>
                  <a:pt x="0" y="0"/>
                </a:moveTo>
                <a:lnTo>
                  <a:pt x="3029989" y="0"/>
                </a:lnTo>
                <a:lnTo>
                  <a:pt x="30299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143000"/>
            <a:ext cx="6880590" cy="214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Main Components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1274333"/>
            <a:ext cx="8282571" cy="6975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37"/>
              </a:lnSpc>
            </a:pPr>
            <a:r>
              <a:rPr lang="en-US" sz="2198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1. Machine Learning (Recommendations)</a:t>
            </a:r>
          </a:p>
          <a:p>
            <a:pPr algn="just">
              <a:lnSpc>
                <a:spcPts val="3737"/>
              </a:lnSpc>
            </a:pPr>
            <a:r>
              <a:rPr lang="en-US" sz="2198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Hybrid model = Collaborative + Content-Based Filtering</a:t>
            </a:r>
          </a:p>
          <a:p>
            <a:pPr algn="just">
              <a:lnSpc>
                <a:spcPts val="3737"/>
              </a:lnSpc>
            </a:pPr>
            <a:r>
              <a:rPr lang="en-US" sz="2198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Algorithms: SVD, KNN, Hybrid Stacking</a:t>
            </a:r>
          </a:p>
          <a:p>
            <a:pPr algn="just">
              <a:lnSpc>
                <a:spcPts val="3737"/>
              </a:lnSpc>
            </a:pPr>
            <a:r>
              <a:rPr lang="en-US" sz="2198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2. Natural Language Processing (Understanding Layer)</a:t>
            </a:r>
          </a:p>
          <a:p>
            <a:pPr algn="just">
              <a:lnSpc>
                <a:spcPts val="3737"/>
              </a:lnSpc>
            </a:pPr>
            <a:r>
              <a:rPr lang="en-US" sz="2198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Understands sentences like “Plan a relaxing 3-day trip near the   </a:t>
            </a:r>
          </a:p>
          <a:p>
            <a:pPr algn="just">
              <a:lnSpc>
                <a:spcPts val="3737"/>
              </a:lnSpc>
            </a:pPr>
            <a:r>
              <a:rPr lang="en-US" sz="2198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 hills.” Performs sentiment analysis on reviews and queries.</a:t>
            </a:r>
          </a:p>
          <a:p>
            <a:pPr algn="just">
              <a:lnSpc>
                <a:spcPts val="3737"/>
              </a:lnSpc>
            </a:pPr>
            <a:r>
              <a:rPr lang="en-US" sz="2198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3. Geo-Location &amp; Real-Time Intelligence</a:t>
            </a:r>
          </a:p>
          <a:p>
            <a:pPr algn="just">
              <a:lnSpc>
                <a:spcPts val="3737"/>
              </a:lnSpc>
            </a:pPr>
            <a:r>
              <a:rPr lang="en-US" sz="2198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Pulls live data from Google Maps, OpenWeather, and Eventbrite.</a:t>
            </a:r>
          </a:p>
          <a:p>
            <a:pPr algn="just">
              <a:lnSpc>
                <a:spcPts val="3737"/>
              </a:lnSpc>
            </a:pPr>
            <a:r>
              <a:rPr lang="en-US" sz="2198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Adapts automatically — if it rains, suggests indoor spots.</a:t>
            </a:r>
          </a:p>
          <a:p>
            <a:pPr algn="just">
              <a:lnSpc>
                <a:spcPts val="3737"/>
              </a:lnSpc>
            </a:pPr>
            <a:r>
              <a:rPr lang="en-US" sz="2198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4. Itinerary Optimization</a:t>
            </a:r>
          </a:p>
          <a:p>
            <a:pPr algn="just">
              <a:lnSpc>
                <a:spcPts val="3737"/>
              </a:lnSpc>
            </a:pPr>
            <a:r>
              <a:rPr lang="en-US" sz="2198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Uses Dijkstra / A* algorithms for best routes and cost-time  </a:t>
            </a:r>
          </a:p>
          <a:p>
            <a:pPr algn="just">
              <a:lnSpc>
                <a:spcPts val="3737"/>
              </a:lnSpc>
            </a:pPr>
            <a:r>
              <a:rPr lang="en-US" sz="2198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 balance.</a:t>
            </a:r>
          </a:p>
          <a:p>
            <a:pPr algn="just">
              <a:lnSpc>
                <a:spcPts val="3737"/>
              </a:lnSpc>
            </a:pPr>
            <a:r>
              <a:rPr lang="en-US" sz="2198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5. Visualization &amp; UI</a:t>
            </a:r>
          </a:p>
          <a:p>
            <a:pPr algn="just">
              <a:lnSpc>
                <a:spcPts val="3737"/>
              </a:lnSpc>
            </a:pPr>
            <a:r>
              <a:rPr lang="en-US" sz="2198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Interactive maps and dashboards built with Streamlit, Plotly, and </a:t>
            </a:r>
          </a:p>
          <a:p>
            <a:pPr algn="just">
              <a:lnSpc>
                <a:spcPts val="3737"/>
              </a:lnSpc>
            </a:pPr>
            <a:r>
              <a:rPr lang="en-US" sz="2198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 Folium.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298481"/>
            <a:ext cx="16230600" cy="6037184"/>
            <a:chOff x="0" y="0"/>
            <a:chExt cx="5508625" cy="20490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08625" cy="2049005"/>
            </a:xfrm>
            <a:custGeom>
              <a:avLst/>
              <a:gdLst/>
              <a:ahLst/>
              <a:cxnLst/>
              <a:rect l="l" t="t" r="r" b="b"/>
              <a:pathLst>
                <a:path w="5508625" h="2049005">
                  <a:moveTo>
                    <a:pt x="18739" y="0"/>
                  </a:moveTo>
                  <a:lnTo>
                    <a:pt x="5489886" y="0"/>
                  </a:lnTo>
                  <a:cubicBezTo>
                    <a:pt x="5494856" y="0"/>
                    <a:pt x="5499622" y="1974"/>
                    <a:pt x="5503137" y="5488"/>
                  </a:cubicBezTo>
                  <a:cubicBezTo>
                    <a:pt x="5506651" y="9003"/>
                    <a:pt x="5508625" y="13769"/>
                    <a:pt x="5508625" y="18739"/>
                  </a:cubicBezTo>
                  <a:lnTo>
                    <a:pt x="5508625" y="2030266"/>
                  </a:lnTo>
                  <a:cubicBezTo>
                    <a:pt x="5508625" y="2035236"/>
                    <a:pt x="5506651" y="2040002"/>
                    <a:pt x="5503137" y="2043517"/>
                  </a:cubicBezTo>
                  <a:cubicBezTo>
                    <a:pt x="5499622" y="2047031"/>
                    <a:pt x="5494856" y="2049005"/>
                    <a:pt x="5489886" y="2049005"/>
                  </a:cubicBezTo>
                  <a:lnTo>
                    <a:pt x="18739" y="2049005"/>
                  </a:lnTo>
                  <a:cubicBezTo>
                    <a:pt x="13769" y="2049005"/>
                    <a:pt x="9003" y="2047031"/>
                    <a:pt x="5488" y="2043517"/>
                  </a:cubicBezTo>
                  <a:cubicBezTo>
                    <a:pt x="1974" y="2040002"/>
                    <a:pt x="0" y="2035236"/>
                    <a:pt x="0" y="2030266"/>
                  </a:cubicBezTo>
                  <a:lnTo>
                    <a:pt x="0" y="18739"/>
                  </a:lnTo>
                  <a:cubicBezTo>
                    <a:pt x="0" y="13769"/>
                    <a:pt x="1974" y="9003"/>
                    <a:pt x="5488" y="5488"/>
                  </a:cubicBezTo>
                  <a:cubicBezTo>
                    <a:pt x="9003" y="1974"/>
                    <a:pt x="13769" y="0"/>
                    <a:pt x="18739" y="0"/>
                  </a:cubicBezTo>
                  <a:close/>
                </a:path>
              </a:pathLst>
            </a:custGeom>
            <a:solidFill>
              <a:srgbClr val="001737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08625" cy="2087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754022" y="5757583"/>
            <a:ext cx="3815070" cy="1216584"/>
          </a:xfrm>
          <a:custGeom>
            <a:avLst/>
            <a:gdLst/>
            <a:ahLst/>
            <a:cxnLst/>
            <a:rect l="l" t="t" r="r" b="b"/>
            <a:pathLst>
              <a:path w="3815070" h="1216584">
                <a:moveTo>
                  <a:pt x="0" y="0"/>
                </a:moveTo>
                <a:lnTo>
                  <a:pt x="3815070" y="0"/>
                </a:lnTo>
                <a:lnTo>
                  <a:pt x="3815070" y="1216584"/>
                </a:lnTo>
                <a:lnTo>
                  <a:pt x="0" y="1216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79115" y="4128770"/>
            <a:ext cx="6964885" cy="109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System 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13570" y="3816350"/>
            <a:ext cx="6971573" cy="254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just">
              <a:lnSpc>
                <a:spcPts val="34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User enters preferences (budget, duration, interests).</a:t>
            </a:r>
          </a:p>
          <a:p>
            <a:pPr marL="431801" lvl="1" indent="-215900" algn="just">
              <a:lnSpc>
                <a:spcPts val="34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NLP module builds structured profile.</a:t>
            </a:r>
          </a:p>
          <a:p>
            <a:pPr marL="431801" lvl="1" indent="-215900" algn="just">
              <a:lnSpc>
                <a:spcPts val="34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ML engine ranks suitable destinations.</a:t>
            </a:r>
          </a:p>
          <a:p>
            <a:pPr marL="431801" lvl="1" indent="-215900" algn="just">
              <a:lnSpc>
                <a:spcPts val="34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Itinerary Builder creates day-wise plan.</a:t>
            </a:r>
          </a:p>
          <a:p>
            <a:pPr marL="431801" lvl="1" indent="-215900" algn="just">
              <a:lnSpc>
                <a:spcPts val="34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Real-time APIs update live conditions.</a:t>
            </a:r>
          </a:p>
          <a:p>
            <a:pPr marL="431801" lvl="1" indent="-215900" algn="just">
              <a:lnSpc>
                <a:spcPts val="34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Dashboard displays final plan interactively.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72494"/>
            <a:ext cx="8684863" cy="11431988"/>
            <a:chOff x="0" y="0"/>
            <a:chExt cx="2947621" cy="38799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47621" cy="3879988"/>
            </a:xfrm>
            <a:custGeom>
              <a:avLst/>
              <a:gdLst/>
              <a:ahLst/>
              <a:cxnLst/>
              <a:rect l="l" t="t" r="r" b="b"/>
              <a:pathLst>
                <a:path w="2947621" h="3879988">
                  <a:moveTo>
                    <a:pt x="35020" y="0"/>
                  </a:moveTo>
                  <a:lnTo>
                    <a:pt x="2912601" y="0"/>
                  </a:lnTo>
                  <a:cubicBezTo>
                    <a:pt x="2931942" y="0"/>
                    <a:pt x="2947621" y="15679"/>
                    <a:pt x="2947621" y="35020"/>
                  </a:cubicBezTo>
                  <a:lnTo>
                    <a:pt x="2947621" y="3844968"/>
                  </a:lnTo>
                  <a:cubicBezTo>
                    <a:pt x="2947621" y="3854256"/>
                    <a:pt x="2943931" y="3863164"/>
                    <a:pt x="2937364" y="3869731"/>
                  </a:cubicBezTo>
                  <a:cubicBezTo>
                    <a:pt x="2930796" y="3876299"/>
                    <a:pt x="2921889" y="3879988"/>
                    <a:pt x="2912601" y="3879988"/>
                  </a:cubicBezTo>
                  <a:lnTo>
                    <a:pt x="35020" y="3879988"/>
                  </a:lnTo>
                  <a:cubicBezTo>
                    <a:pt x="25732" y="3879988"/>
                    <a:pt x="16825" y="3876299"/>
                    <a:pt x="10257" y="3869731"/>
                  </a:cubicBezTo>
                  <a:cubicBezTo>
                    <a:pt x="3690" y="3863164"/>
                    <a:pt x="0" y="3854256"/>
                    <a:pt x="0" y="3844968"/>
                  </a:cubicBezTo>
                  <a:lnTo>
                    <a:pt x="0" y="35020"/>
                  </a:lnTo>
                  <a:cubicBezTo>
                    <a:pt x="0" y="25732"/>
                    <a:pt x="3690" y="16825"/>
                    <a:pt x="10257" y="10257"/>
                  </a:cubicBezTo>
                  <a:cubicBezTo>
                    <a:pt x="16825" y="3690"/>
                    <a:pt x="25732" y="0"/>
                    <a:pt x="35020" y="0"/>
                  </a:cubicBezTo>
                  <a:close/>
                </a:path>
              </a:pathLst>
            </a:custGeom>
            <a:solidFill>
              <a:srgbClr val="001737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947621" cy="3918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713648">
            <a:off x="1998706" y="3248343"/>
            <a:ext cx="4687451" cy="3193326"/>
          </a:xfrm>
          <a:custGeom>
            <a:avLst/>
            <a:gdLst/>
            <a:ahLst/>
            <a:cxnLst/>
            <a:rect l="l" t="t" r="r" b="b"/>
            <a:pathLst>
              <a:path w="4687451" h="3193326">
                <a:moveTo>
                  <a:pt x="0" y="0"/>
                </a:moveTo>
                <a:lnTo>
                  <a:pt x="4687451" y="0"/>
                </a:lnTo>
                <a:lnTo>
                  <a:pt x="4687451" y="3193326"/>
                </a:lnTo>
                <a:lnTo>
                  <a:pt x="0" y="319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735918" y="7636963"/>
            <a:ext cx="1523382" cy="1621337"/>
          </a:xfrm>
          <a:custGeom>
            <a:avLst/>
            <a:gdLst/>
            <a:ahLst/>
            <a:cxnLst/>
            <a:rect l="l" t="t" r="r" b="b"/>
            <a:pathLst>
              <a:path w="1523382" h="1621337">
                <a:moveTo>
                  <a:pt x="0" y="0"/>
                </a:moveTo>
                <a:lnTo>
                  <a:pt x="1523382" y="0"/>
                </a:lnTo>
                <a:lnTo>
                  <a:pt x="1523382" y="1621337"/>
                </a:lnTo>
                <a:lnTo>
                  <a:pt x="0" y="1621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344761" y="2628636"/>
            <a:ext cx="8524925" cy="887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5"/>
              </a:lnSpc>
            </a:pPr>
            <a:r>
              <a:rPr lang="en-US" sz="6495" b="1">
                <a:solidFill>
                  <a:srgbClr val="001737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Techniques &amp; Tools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38060" y="4060018"/>
            <a:ext cx="6938329" cy="2830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4"/>
              </a:lnSpc>
            </a:pPr>
            <a:r>
              <a:rPr lang="en-US" sz="2226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Machine Learning:</a:t>
            </a:r>
            <a:r>
              <a:rPr lang="en-US" sz="22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scikit-learn, pandas, numpy</a:t>
            </a:r>
          </a:p>
          <a:p>
            <a:pPr algn="just">
              <a:lnSpc>
                <a:spcPts val="3784"/>
              </a:lnSpc>
            </a:pPr>
            <a:r>
              <a:rPr lang="en-US" sz="2226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NLP:</a:t>
            </a:r>
            <a:r>
              <a:rPr lang="en-US" sz="22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spaCy, NLTK, Transformers</a:t>
            </a:r>
          </a:p>
          <a:p>
            <a:pPr algn="just">
              <a:lnSpc>
                <a:spcPts val="3784"/>
              </a:lnSpc>
            </a:pPr>
            <a:r>
              <a:rPr lang="en-US" sz="2226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UI:</a:t>
            </a:r>
            <a:r>
              <a:rPr lang="en-US" sz="22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Streamlit, Plotly, Folium</a:t>
            </a:r>
          </a:p>
          <a:p>
            <a:pPr algn="just">
              <a:lnSpc>
                <a:spcPts val="3784"/>
              </a:lnSpc>
            </a:pPr>
            <a:r>
              <a:rPr lang="en-US" sz="2226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APIs:</a:t>
            </a:r>
            <a:r>
              <a:rPr lang="en-US" sz="22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Google Maps, OpenWeather, Eventbrite</a:t>
            </a:r>
          </a:p>
          <a:p>
            <a:pPr algn="just">
              <a:lnSpc>
                <a:spcPts val="3784"/>
              </a:lnSpc>
            </a:pPr>
            <a:r>
              <a:rPr lang="en-US" sz="2226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Database:</a:t>
            </a:r>
            <a:r>
              <a:rPr lang="en-US" sz="22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SQLite</a:t>
            </a:r>
          </a:p>
          <a:p>
            <a:pPr algn="just">
              <a:lnSpc>
                <a:spcPts val="3784"/>
              </a:lnSpc>
            </a:pPr>
            <a:r>
              <a:rPr lang="en-US" sz="2226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Frontend (optional):</a:t>
            </a:r>
            <a:r>
              <a:rPr lang="en-US" sz="22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73048" y="-1074146"/>
            <a:ext cx="20034095" cy="6675845"/>
            <a:chOff x="0" y="0"/>
            <a:chExt cx="2127486" cy="7089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7486" cy="708930"/>
            </a:xfrm>
            <a:custGeom>
              <a:avLst/>
              <a:gdLst/>
              <a:ahLst/>
              <a:cxnLst/>
              <a:rect l="l" t="t" r="r" b="b"/>
              <a:pathLst>
                <a:path w="2127486" h="708930">
                  <a:moveTo>
                    <a:pt x="8888" y="0"/>
                  </a:moveTo>
                  <a:lnTo>
                    <a:pt x="2118598" y="0"/>
                  </a:lnTo>
                  <a:cubicBezTo>
                    <a:pt x="2123507" y="0"/>
                    <a:pt x="2127486" y="3979"/>
                    <a:pt x="2127486" y="8888"/>
                  </a:cubicBezTo>
                  <a:lnTo>
                    <a:pt x="2127486" y="700042"/>
                  </a:lnTo>
                  <a:cubicBezTo>
                    <a:pt x="2127486" y="702399"/>
                    <a:pt x="2126550" y="704660"/>
                    <a:pt x="2124883" y="706327"/>
                  </a:cubicBezTo>
                  <a:cubicBezTo>
                    <a:pt x="2123216" y="707993"/>
                    <a:pt x="2120955" y="708930"/>
                    <a:pt x="2118598" y="708930"/>
                  </a:cubicBezTo>
                  <a:lnTo>
                    <a:pt x="8888" y="708930"/>
                  </a:lnTo>
                  <a:cubicBezTo>
                    <a:pt x="3979" y="708930"/>
                    <a:pt x="0" y="704950"/>
                    <a:pt x="0" y="700042"/>
                  </a:cubicBezTo>
                  <a:lnTo>
                    <a:pt x="0" y="8888"/>
                  </a:lnTo>
                  <a:cubicBezTo>
                    <a:pt x="0" y="6531"/>
                    <a:pt x="936" y="4270"/>
                    <a:pt x="2603" y="2603"/>
                  </a:cubicBezTo>
                  <a:cubicBezTo>
                    <a:pt x="4270" y="936"/>
                    <a:pt x="6531" y="0"/>
                    <a:pt x="8888" y="0"/>
                  </a:cubicBezTo>
                  <a:close/>
                </a:path>
              </a:pathLst>
            </a:custGeom>
            <a:blipFill>
              <a:blip r:embed="rId2"/>
              <a:stretch>
                <a:fillRect t="-50123" b="-5012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-5400000">
            <a:off x="6988870" y="-5970411"/>
            <a:ext cx="4310261" cy="18923096"/>
          </a:xfrm>
          <a:custGeom>
            <a:avLst/>
            <a:gdLst/>
            <a:ahLst/>
            <a:cxnLst/>
            <a:rect l="l" t="t" r="r" b="b"/>
            <a:pathLst>
              <a:path w="4310261" h="18923096">
                <a:moveTo>
                  <a:pt x="0" y="0"/>
                </a:moveTo>
                <a:lnTo>
                  <a:pt x="4310260" y="0"/>
                </a:lnTo>
                <a:lnTo>
                  <a:pt x="4310260" y="18923096"/>
                </a:lnTo>
                <a:lnTo>
                  <a:pt x="0" y="189230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20931" y="4622917"/>
            <a:ext cx="7142619" cy="3842864"/>
            <a:chOff x="0" y="0"/>
            <a:chExt cx="2424187" cy="13042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24187" cy="1304258"/>
            </a:xfrm>
            <a:custGeom>
              <a:avLst/>
              <a:gdLst/>
              <a:ahLst/>
              <a:cxnLst/>
              <a:rect l="l" t="t" r="r" b="b"/>
              <a:pathLst>
                <a:path w="2424187" h="1304258">
                  <a:moveTo>
                    <a:pt x="42582" y="0"/>
                  </a:moveTo>
                  <a:lnTo>
                    <a:pt x="2381605" y="0"/>
                  </a:lnTo>
                  <a:cubicBezTo>
                    <a:pt x="2392899" y="0"/>
                    <a:pt x="2403729" y="4486"/>
                    <a:pt x="2411715" y="12472"/>
                  </a:cubicBezTo>
                  <a:cubicBezTo>
                    <a:pt x="2419701" y="20457"/>
                    <a:pt x="2424187" y="31288"/>
                    <a:pt x="2424187" y="42582"/>
                  </a:cubicBezTo>
                  <a:lnTo>
                    <a:pt x="2424187" y="1261677"/>
                  </a:lnTo>
                  <a:cubicBezTo>
                    <a:pt x="2424187" y="1272970"/>
                    <a:pt x="2419701" y="1283801"/>
                    <a:pt x="2411715" y="1291786"/>
                  </a:cubicBezTo>
                  <a:cubicBezTo>
                    <a:pt x="2403729" y="1299772"/>
                    <a:pt x="2392899" y="1304258"/>
                    <a:pt x="2381605" y="1304258"/>
                  </a:cubicBezTo>
                  <a:lnTo>
                    <a:pt x="42582" y="1304258"/>
                  </a:lnTo>
                  <a:cubicBezTo>
                    <a:pt x="31288" y="1304258"/>
                    <a:pt x="20457" y="1299772"/>
                    <a:pt x="12472" y="1291786"/>
                  </a:cubicBezTo>
                  <a:cubicBezTo>
                    <a:pt x="4486" y="1283801"/>
                    <a:pt x="0" y="1272970"/>
                    <a:pt x="0" y="1261677"/>
                  </a:cubicBezTo>
                  <a:lnTo>
                    <a:pt x="0" y="42582"/>
                  </a:lnTo>
                  <a:cubicBezTo>
                    <a:pt x="0" y="31288"/>
                    <a:pt x="4486" y="20457"/>
                    <a:pt x="12472" y="12472"/>
                  </a:cubicBezTo>
                  <a:cubicBezTo>
                    <a:pt x="20457" y="4486"/>
                    <a:pt x="31288" y="0"/>
                    <a:pt x="42582" y="0"/>
                  </a:cubicBezTo>
                  <a:close/>
                </a:path>
              </a:pathLst>
            </a:custGeom>
            <a:solidFill>
              <a:srgbClr val="001737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24187" cy="1342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2561337" y="5133524"/>
            <a:ext cx="651771" cy="648215"/>
          </a:xfrm>
          <a:custGeom>
            <a:avLst/>
            <a:gdLst/>
            <a:ahLst/>
            <a:cxnLst/>
            <a:rect l="l" t="t" r="r" b="b"/>
            <a:pathLst>
              <a:path w="651771" h="648215">
                <a:moveTo>
                  <a:pt x="651770" y="0"/>
                </a:moveTo>
                <a:lnTo>
                  <a:pt x="0" y="0"/>
                </a:lnTo>
                <a:lnTo>
                  <a:pt x="0" y="648215"/>
                </a:lnTo>
                <a:lnTo>
                  <a:pt x="651770" y="648215"/>
                </a:lnTo>
                <a:lnTo>
                  <a:pt x="65177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524450" y="4622917"/>
            <a:ext cx="7142619" cy="3842864"/>
            <a:chOff x="0" y="0"/>
            <a:chExt cx="2424187" cy="13042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24187" cy="1304258"/>
            </a:xfrm>
            <a:custGeom>
              <a:avLst/>
              <a:gdLst/>
              <a:ahLst/>
              <a:cxnLst/>
              <a:rect l="l" t="t" r="r" b="b"/>
              <a:pathLst>
                <a:path w="2424187" h="1304258">
                  <a:moveTo>
                    <a:pt x="42582" y="0"/>
                  </a:moveTo>
                  <a:lnTo>
                    <a:pt x="2381605" y="0"/>
                  </a:lnTo>
                  <a:cubicBezTo>
                    <a:pt x="2392899" y="0"/>
                    <a:pt x="2403729" y="4486"/>
                    <a:pt x="2411715" y="12472"/>
                  </a:cubicBezTo>
                  <a:cubicBezTo>
                    <a:pt x="2419701" y="20457"/>
                    <a:pt x="2424187" y="31288"/>
                    <a:pt x="2424187" y="42582"/>
                  </a:cubicBezTo>
                  <a:lnTo>
                    <a:pt x="2424187" y="1261677"/>
                  </a:lnTo>
                  <a:cubicBezTo>
                    <a:pt x="2424187" y="1272970"/>
                    <a:pt x="2419701" y="1283801"/>
                    <a:pt x="2411715" y="1291786"/>
                  </a:cubicBezTo>
                  <a:cubicBezTo>
                    <a:pt x="2403729" y="1299772"/>
                    <a:pt x="2392899" y="1304258"/>
                    <a:pt x="2381605" y="1304258"/>
                  </a:cubicBezTo>
                  <a:lnTo>
                    <a:pt x="42582" y="1304258"/>
                  </a:lnTo>
                  <a:cubicBezTo>
                    <a:pt x="31288" y="1304258"/>
                    <a:pt x="20457" y="1299772"/>
                    <a:pt x="12472" y="1291786"/>
                  </a:cubicBezTo>
                  <a:cubicBezTo>
                    <a:pt x="4486" y="1283801"/>
                    <a:pt x="0" y="1272970"/>
                    <a:pt x="0" y="1261677"/>
                  </a:cubicBezTo>
                  <a:lnTo>
                    <a:pt x="0" y="42582"/>
                  </a:lnTo>
                  <a:cubicBezTo>
                    <a:pt x="0" y="31288"/>
                    <a:pt x="4486" y="20457"/>
                    <a:pt x="12472" y="12472"/>
                  </a:cubicBezTo>
                  <a:cubicBezTo>
                    <a:pt x="20457" y="4486"/>
                    <a:pt x="31288" y="0"/>
                    <a:pt x="42582" y="0"/>
                  </a:cubicBezTo>
                  <a:close/>
                </a:path>
              </a:pathLst>
            </a:custGeom>
            <a:solidFill>
              <a:srgbClr val="001737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424187" cy="1342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464856" y="5112805"/>
            <a:ext cx="692870" cy="668935"/>
          </a:xfrm>
          <a:custGeom>
            <a:avLst/>
            <a:gdLst/>
            <a:ahLst/>
            <a:cxnLst/>
            <a:rect l="l" t="t" r="r" b="b"/>
            <a:pathLst>
              <a:path w="692870" h="668935">
                <a:moveTo>
                  <a:pt x="0" y="0"/>
                </a:moveTo>
                <a:lnTo>
                  <a:pt x="692870" y="0"/>
                </a:lnTo>
                <a:lnTo>
                  <a:pt x="692870" y="668934"/>
                </a:lnTo>
                <a:lnTo>
                  <a:pt x="0" y="6689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20931" y="2059982"/>
            <a:ext cx="9593246" cy="214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Advancements &amp; Difference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00078" y="6458162"/>
            <a:ext cx="5384324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Static recommendations, limited personalization, no real-time response.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00078" y="5983426"/>
            <a:ext cx="232491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Existing Systems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64856" y="6486737"/>
            <a:ext cx="4220628" cy="164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8477" lvl="1" indent="-169238" algn="just">
              <a:lnSpc>
                <a:spcPts val="2665"/>
              </a:lnSpc>
              <a:buFont typeface="Arial"/>
              <a:buChar char="•"/>
            </a:pPr>
            <a:r>
              <a:rPr lang="en-US" sz="1567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Real-time adaptive itineraries</a:t>
            </a:r>
          </a:p>
          <a:p>
            <a:pPr marL="338477" lvl="1" indent="-169238" algn="just">
              <a:lnSpc>
                <a:spcPts val="2665"/>
              </a:lnSpc>
              <a:buFont typeface="Arial"/>
              <a:buChar char="•"/>
            </a:pPr>
            <a:r>
              <a:rPr lang="en-US" sz="1567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 Hybrid ML for deep personalization</a:t>
            </a:r>
          </a:p>
          <a:p>
            <a:pPr marL="338477" lvl="1" indent="-169238" algn="just">
              <a:lnSpc>
                <a:spcPts val="2665"/>
              </a:lnSpc>
              <a:buFont typeface="Arial"/>
              <a:buChar char="•"/>
            </a:pPr>
            <a:r>
              <a:rPr lang="en-US" sz="1567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 Sentiment-based review insights</a:t>
            </a:r>
          </a:p>
          <a:p>
            <a:pPr marL="338477" lvl="1" indent="-169238" algn="just">
              <a:lnSpc>
                <a:spcPts val="2665"/>
              </a:lnSpc>
              <a:buFont typeface="Arial"/>
              <a:buChar char="•"/>
            </a:pPr>
            <a:r>
              <a:rPr lang="en-US" sz="1567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 Interactive map dashboards</a:t>
            </a:r>
          </a:p>
          <a:p>
            <a:pPr marL="338477" lvl="1" indent="-169238" algn="just">
              <a:lnSpc>
                <a:spcPts val="2665"/>
              </a:lnSpc>
              <a:buFont typeface="Arial"/>
              <a:buChar char="•"/>
            </a:pPr>
            <a:r>
              <a:rPr lang="en-US" sz="1567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 Focus on Indian travel datasets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64856" y="5983426"/>
            <a:ext cx="234557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TRIP-Sense Adds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48692" y="-1096777"/>
            <a:ext cx="21985385" cy="5632461"/>
            <a:chOff x="0" y="0"/>
            <a:chExt cx="7461785" cy="19116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61785" cy="1911643"/>
            </a:xfrm>
            <a:custGeom>
              <a:avLst/>
              <a:gdLst/>
              <a:ahLst/>
              <a:cxnLst/>
              <a:rect l="l" t="t" r="r" b="b"/>
              <a:pathLst>
                <a:path w="7461785" h="1911643">
                  <a:moveTo>
                    <a:pt x="13834" y="0"/>
                  </a:moveTo>
                  <a:lnTo>
                    <a:pt x="7447951" y="0"/>
                  </a:lnTo>
                  <a:cubicBezTo>
                    <a:pt x="7451620" y="0"/>
                    <a:pt x="7455139" y="1457"/>
                    <a:pt x="7457733" y="4052"/>
                  </a:cubicBezTo>
                  <a:cubicBezTo>
                    <a:pt x="7460328" y="6646"/>
                    <a:pt x="7461785" y="10165"/>
                    <a:pt x="7461785" y="13834"/>
                  </a:cubicBezTo>
                  <a:lnTo>
                    <a:pt x="7461785" y="1897809"/>
                  </a:lnTo>
                  <a:cubicBezTo>
                    <a:pt x="7461785" y="1901478"/>
                    <a:pt x="7460328" y="1904997"/>
                    <a:pt x="7457733" y="1907591"/>
                  </a:cubicBezTo>
                  <a:cubicBezTo>
                    <a:pt x="7455139" y="1910186"/>
                    <a:pt x="7451620" y="1911643"/>
                    <a:pt x="7447951" y="1911643"/>
                  </a:cubicBezTo>
                  <a:lnTo>
                    <a:pt x="13834" y="1911643"/>
                  </a:lnTo>
                  <a:cubicBezTo>
                    <a:pt x="6194" y="1911643"/>
                    <a:pt x="0" y="1905450"/>
                    <a:pt x="0" y="1897809"/>
                  </a:cubicBezTo>
                  <a:lnTo>
                    <a:pt x="0" y="13834"/>
                  </a:lnTo>
                  <a:cubicBezTo>
                    <a:pt x="0" y="10165"/>
                    <a:pt x="1457" y="6646"/>
                    <a:pt x="4052" y="4052"/>
                  </a:cubicBezTo>
                  <a:cubicBezTo>
                    <a:pt x="6646" y="1457"/>
                    <a:pt x="10165" y="0"/>
                    <a:pt x="13834" y="0"/>
                  </a:cubicBezTo>
                  <a:close/>
                </a:path>
              </a:pathLst>
            </a:custGeom>
            <a:solidFill>
              <a:srgbClr val="001737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461785" cy="1949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880150" y="2215161"/>
            <a:ext cx="4746657" cy="3688160"/>
            <a:chOff x="0" y="0"/>
            <a:chExt cx="354731" cy="2756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4731" cy="275627"/>
            </a:xfrm>
            <a:custGeom>
              <a:avLst/>
              <a:gdLst/>
              <a:ahLst/>
              <a:cxnLst/>
              <a:rect l="l" t="t" r="r" b="b"/>
              <a:pathLst>
                <a:path w="354731" h="275627">
                  <a:moveTo>
                    <a:pt x="37514" y="0"/>
                  </a:moveTo>
                  <a:lnTo>
                    <a:pt x="317218" y="0"/>
                  </a:lnTo>
                  <a:cubicBezTo>
                    <a:pt x="337936" y="0"/>
                    <a:pt x="354731" y="16795"/>
                    <a:pt x="354731" y="37514"/>
                  </a:cubicBezTo>
                  <a:lnTo>
                    <a:pt x="354731" y="238113"/>
                  </a:lnTo>
                  <a:cubicBezTo>
                    <a:pt x="354731" y="258831"/>
                    <a:pt x="337936" y="275627"/>
                    <a:pt x="317218" y="275627"/>
                  </a:cubicBezTo>
                  <a:lnTo>
                    <a:pt x="37514" y="275627"/>
                  </a:lnTo>
                  <a:cubicBezTo>
                    <a:pt x="16795" y="275627"/>
                    <a:pt x="0" y="258831"/>
                    <a:pt x="0" y="238113"/>
                  </a:cubicBezTo>
                  <a:lnTo>
                    <a:pt x="0" y="37514"/>
                  </a:lnTo>
                  <a:cubicBezTo>
                    <a:pt x="0" y="16795"/>
                    <a:pt x="16795" y="0"/>
                    <a:pt x="37514" y="0"/>
                  </a:cubicBezTo>
                  <a:close/>
                </a:path>
              </a:pathLst>
            </a:custGeom>
            <a:blipFill>
              <a:blip r:embed="rId2"/>
              <a:stretch>
                <a:fillRect l="-8222" r="-822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4221130" y="2215161"/>
            <a:ext cx="4746657" cy="3688160"/>
            <a:chOff x="0" y="0"/>
            <a:chExt cx="354731" cy="275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4731" cy="275627"/>
            </a:xfrm>
            <a:custGeom>
              <a:avLst/>
              <a:gdLst/>
              <a:ahLst/>
              <a:cxnLst/>
              <a:rect l="l" t="t" r="r" b="b"/>
              <a:pathLst>
                <a:path w="354731" h="275627">
                  <a:moveTo>
                    <a:pt x="37514" y="0"/>
                  </a:moveTo>
                  <a:lnTo>
                    <a:pt x="317218" y="0"/>
                  </a:lnTo>
                  <a:cubicBezTo>
                    <a:pt x="337936" y="0"/>
                    <a:pt x="354731" y="16795"/>
                    <a:pt x="354731" y="37514"/>
                  </a:cubicBezTo>
                  <a:lnTo>
                    <a:pt x="354731" y="238113"/>
                  </a:lnTo>
                  <a:cubicBezTo>
                    <a:pt x="354731" y="258831"/>
                    <a:pt x="337936" y="275627"/>
                    <a:pt x="317218" y="275627"/>
                  </a:cubicBezTo>
                  <a:lnTo>
                    <a:pt x="37514" y="275627"/>
                  </a:lnTo>
                  <a:cubicBezTo>
                    <a:pt x="16795" y="275627"/>
                    <a:pt x="0" y="258831"/>
                    <a:pt x="0" y="238113"/>
                  </a:cubicBezTo>
                  <a:lnTo>
                    <a:pt x="0" y="37514"/>
                  </a:lnTo>
                  <a:cubicBezTo>
                    <a:pt x="0" y="16795"/>
                    <a:pt x="16795" y="0"/>
                    <a:pt x="37514" y="0"/>
                  </a:cubicBezTo>
                  <a:close/>
                </a:path>
              </a:pathLst>
            </a:custGeom>
            <a:blipFill>
              <a:blip r:embed="rId3"/>
              <a:stretch>
                <a:fillRect l="-4370" r="-437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320212" y="2215161"/>
            <a:ext cx="4746657" cy="3688160"/>
            <a:chOff x="0" y="0"/>
            <a:chExt cx="354731" cy="2756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4731" cy="275627"/>
            </a:xfrm>
            <a:custGeom>
              <a:avLst/>
              <a:gdLst/>
              <a:ahLst/>
              <a:cxnLst/>
              <a:rect l="l" t="t" r="r" b="b"/>
              <a:pathLst>
                <a:path w="354731" h="275627">
                  <a:moveTo>
                    <a:pt x="37514" y="0"/>
                  </a:moveTo>
                  <a:lnTo>
                    <a:pt x="317218" y="0"/>
                  </a:lnTo>
                  <a:cubicBezTo>
                    <a:pt x="337936" y="0"/>
                    <a:pt x="354731" y="16795"/>
                    <a:pt x="354731" y="37514"/>
                  </a:cubicBezTo>
                  <a:lnTo>
                    <a:pt x="354731" y="238113"/>
                  </a:lnTo>
                  <a:cubicBezTo>
                    <a:pt x="354731" y="258831"/>
                    <a:pt x="337936" y="275627"/>
                    <a:pt x="317218" y="275627"/>
                  </a:cubicBezTo>
                  <a:lnTo>
                    <a:pt x="37514" y="275627"/>
                  </a:lnTo>
                  <a:cubicBezTo>
                    <a:pt x="16795" y="275627"/>
                    <a:pt x="0" y="258831"/>
                    <a:pt x="0" y="238113"/>
                  </a:cubicBezTo>
                  <a:lnTo>
                    <a:pt x="0" y="37514"/>
                  </a:lnTo>
                  <a:cubicBezTo>
                    <a:pt x="0" y="16795"/>
                    <a:pt x="16795" y="0"/>
                    <a:pt x="37514" y="0"/>
                  </a:cubicBezTo>
                  <a:close/>
                </a:path>
              </a:pathLst>
            </a:custGeom>
            <a:blipFill>
              <a:blip r:embed="rId4"/>
              <a:stretch>
                <a:fillRect l="-8541" r="-854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4421493" y="2215161"/>
            <a:ext cx="4746657" cy="3688160"/>
            <a:chOff x="0" y="0"/>
            <a:chExt cx="354731" cy="27562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4731" cy="275627"/>
            </a:xfrm>
            <a:custGeom>
              <a:avLst/>
              <a:gdLst/>
              <a:ahLst/>
              <a:cxnLst/>
              <a:rect l="l" t="t" r="r" b="b"/>
              <a:pathLst>
                <a:path w="354731" h="275627">
                  <a:moveTo>
                    <a:pt x="37514" y="0"/>
                  </a:moveTo>
                  <a:lnTo>
                    <a:pt x="317218" y="0"/>
                  </a:lnTo>
                  <a:cubicBezTo>
                    <a:pt x="337936" y="0"/>
                    <a:pt x="354731" y="16795"/>
                    <a:pt x="354731" y="37514"/>
                  </a:cubicBezTo>
                  <a:lnTo>
                    <a:pt x="354731" y="238113"/>
                  </a:lnTo>
                  <a:cubicBezTo>
                    <a:pt x="354731" y="258831"/>
                    <a:pt x="337936" y="275627"/>
                    <a:pt x="317218" y="275627"/>
                  </a:cubicBezTo>
                  <a:lnTo>
                    <a:pt x="37514" y="275627"/>
                  </a:lnTo>
                  <a:cubicBezTo>
                    <a:pt x="16795" y="275627"/>
                    <a:pt x="0" y="258831"/>
                    <a:pt x="0" y="238113"/>
                  </a:cubicBezTo>
                  <a:lnTo>
                    <a:pt x="0" y="37514"/>
                  </a:lnTo>
                  <a:cubicBezTo>
                    <a:pt x="0" y="16795"/>
                    <a:pt x="16795" y="0"/>
                    <a:pt x="37514" y="0"/>
                  </a:cubicBezTo>
                  <a:close/>
                </a:path>
              </a:pathLst>
            </a:custGeom>
            <a:blipFill>
              <a:blip r:embed="rId5"/>
              <a:stretch>
                <a:fillRect l="-8222" r="-8222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028700" y="6472088"/>
            <a:ext cx="8615763" cy="109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001737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Example Case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6397611"/>
            <a:ext cx="6916577" cy="383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User says: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“Plan a 3-day Goa trip under ₹20k. I love beaches and food.”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TRIP-Sense:</a:t>
            </a:r>
          </a:p>
          <a:p>
            <a:pPr marL="431801" lvl="1" indent="-215900" algn="just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Learns user preferences</a:t>
            </a:r>
          </a:p>
          <a:p>
            <a:pPr marL="431801" lvl="1" indent="-215900" algn="just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Suggests beaches, cafés, and local events</a:t>
            </a:r>
          </a:p>
          <a:p>
            <a:pPr marL="431801" lvl="1" indent="-215900" algn="just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Builds day-wise plan with routes and costs</a:t>
            </a:r>
          </a:p>
          <a:p>
            <a:pPr marL="431801" lvl="1" indent="-215900" algn="just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Adapts live to weather or timing changes</a:t>
            </a:r>
          </a:p>
          <a:p>
            <a:pPr marL="431801" lvl="1" indent="-215900" algn="just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Displays interactive map dashboard</a:t>
            </a:r>
          </a:p>
          <a:p>
            <a:pPr algn="just">
              <a:lnSpc>
                <a:spcPts val="3400"/>
              </a:lnSpc>
            </a:pPr>
            <a:endParaRPr lang="en-US" sz="2000">
              <a:solidFill>
                <a:srgbClr val="000000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9019" y="4245962"/>
            <a:ext cx="21985385" cy="3796400"/>
            <a:chOff x="0" y="0"/>
            <a:chExt cx="7461785" cy="1288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61785" cy="1288489"/>
            </a:xfrm>
            <a:custGeom>
              <a:avLst/>
              <a:gdLst/>
              <a:ahLst/>
              <a:cxnLst/>
              <a:rect l="l" t="t" r="r" b="b"/>
              <a:pathLst>
                <a:path w="7461785" h="1288489">
                  <a:moveTo>
                    <a:pt x="13834" y="0"/>
                  </a:moveTo>
                  <a:lnTo>
                    <a:pt x="7447951" y="0"/>
                  </a:lnTo>
                  <a:cubicBezTo>
                    <a:pt x="7451620" y="0"/>
                    <a:pt x="7455139" y="1457"/>
                    <a:pt x="7457733" y="4052"/>
                  </a:cubicBezTo>
                  <a:cubicBezTo>
                    <a:pt x="7460328" y="6646"/>
                    <a:pt x="7461785" y="10165"/>
                    <a:pt x="7461785" y="13834"/>
                  </a:cubicBezTo>
                  <a:lnTo>
                    <a:pt x="7461785" y="1274655"/>
                  </a:lnTo>
                  <a:cubicBezTo>
                    <a:pt x="7461785" y="1278324"/>
                    <a:pt x="7460328" y="1281842"/>
                    <a:pt x="7457733" y="1284437"/>
                  </a:cubicBezTo>
                  <a:cubicBezTo>
                    <a:pt x="7455139" y="1287031"/>
                    <a:pt x="7451620" y="1288489"/>
                    <a:pt x="7447951" y="1288489"/>
                  </a:cubicBezTo>
                  <a:lnTo>
                    <a:pt x="13834" y="1288489"/>
                  </a:lnTo>
                  <a:cubicBezTo>
                    <a:pt x="6194" y="1288489"/>
                    <a:pt x="0" y="1282295"/>
                    <a:pt x="0" y="1274655"/>
                  </a:cubicBezTo>
                  <a:lnTo>
                    <a:pt x="0" y="13834"/>
                  </a:lnTo>
                  <a:cubicBezTo>
                    <a:pt x="0" y="10165"/>
                    <a:pt x="1457" y="6646"/>
                    <a:pt x="4052" y="4052"/>
                  </a:cubicBezTo>
                  <a:cubicBezTo>
                    <a:pt x="6646" y="1457"/>
                    <a:pt x="10165" y="0"/>
                    <a:pt x="13834" y="0"/>
                  </a:cubicBezTo>
                  <a:close/>
                </a:path>
              </a:pathLst>
            </a:custGeom>
            <a:solidFill>
              <a:srgbClr val="001737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461785" cy="1326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496128" y="2010432"/>
            <a:ext cx="3763172" cy="4114800"/>
          </a:xfrm>
          <a:custGeom>
            <a:avLst/>
            <a:gdLst/>
            <a:ahLst/>
            <a:cxnLst/>
            <a:rect l="l" t="t" r="r" b="b"/>
            <a:pathLst>
              <a:path w="3763172" h="4114800">
                <a:moveTo>
                  <a:pt x="0" y="0"/>
                </a:moveTo>
                <a:lnTo>
                  <a:pt x="3763172" y="0"/>
                </a:lnTo>
                <a:lnTo>
                  <a:pt x="37631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94560" y="2117236"/>
            <a:ext cx="7349440" cy="109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001737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Summary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72672" y="4424570"/>
            <a:ext cx="8400171" cy="297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TRIP-Sense c</a:t>
            </a:r>
            <a:r>
              <a:rPr lang="en-US" sz="2000" u="none" strike="noStrike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ombines:</a:t>
            </a:r>
          </a:p>
          <a:p>
            <a:pPr marL="431801" lvl="1" indent="-215900" algn="just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Machine Learning precision</a:t>
            </a:r>
          </a:p>
          <a:p>
            <a:pPr marL="431801" lvl="1" indent="-215900" algn="just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NLP understanding</a:t>
            </a:r>
          </a:p>
          <a:p>
            <a:pPr marL="431801" lvl="1" indent="-215900" algn="just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Real-time context awareness</a:t>
            </a:r>
          </a:p>
          <a:p>
            <a:pPr marL="0" lvl="0" indent="0" algn="just">
              <a:lnSpc>
                <a:spcPts val="34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to create a travel companion that plans, senses, and evolves with every journey. Not just where to go, but what makes sense for you.</a:t>
            </a:r>
          </a:p>
          <a:p>
            <a:pPr marL="431801" lvl="1" indent="-215900" algn="just">
              <a:lnSpc>
                <a:spcPts val="3400"/>
              </a:lnSpc>
              <a:buFont typeface="Arial"/>
              <a:buChar char="•"/>
            </a:pPr>
            <a:r>
              <a:rPr lang="en-US" sz="2000" u="none" strike="noStrike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TRIP-Sense doesn’t plan your trip - it understands your journey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76870" y="3528892"/>
            <a:ext cx="21985385" cy="6930797"/>
            <a:chOff x="0" y="0"/>
            <a:chExt cx="7461785" cy="23522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61785" cy="2352295"/>
            </a:xfrm>
            <a:custGeom>
              <a:avLst/>
              <a:gdLst/>
              <a:ahLst/>
              <a:cxnLst/>
              <a:rect l="l" t="t" r="r" b="b"/>
              <a:pathLst>
                <a:path w="7461785" h="2352295">
                  <a:moveTo>
                    <a:pt x="13834" y="0"/>
                  </a:moveTo>
                  <a:lnTo>
                    <a:pt x="7447951" y="0"/>
                  </a:lnTo>
                  <a:cubicBezTo>
                    <a:pt x="7451620" y="0"/>
                    <a:pt x="7455139" y="1457"/>
                    <a:pt x="7457733" y="4052"/>
                  </a:cubicBezTo>
                  <a:cubicBezTo>
                    <a:pt x="7460328" y="6646"/>
                    <a:pt x="7461785" y="10165"/>
                    <a:pt x="7461785" y="13834"/>
                  </a:cubicBezTo>
                  <a:lnTo>
                    <a:pt x="7461785" y="2338461"/>
                  </a:lnTo>
                  <a:cubicBezTo>
                    <a:pt x="7461785" y="2346102"/>
                    <a:pt x="7455591" y="2352295"/>
                    <a:pt x="7447951" y="2352295"/>
                  </a:cubicBezTo>
                  <a:lnTo>
                    <a:pt x="13834" y="2352295"/>
                  </a:lnTo>
                  <a:cubicBezTo>
                    <a:pt x="10165" y="2352295"/>
                    <a:pt x="6646" y="2350838"/>
                    <a:pt x="4052" y="2348243"/>
                  </a:cubicBezTo>
                  <a:cubicBezTo>
                    <a:pt x="1457" y="2345649"/>
                    <a:pt x="0" y="2342130"/>
                    <a:pt x="0" y="2338461"/>
                  </a:cubicBezTo>
                  <a:lnTo>
                    <a:pt x="0" y="13834"/>
                  </a:lnTo>
                  <a:cubicBezTo>
                    <a:pt x="0" y="10165"/>
                    <a:pt x="1457" y="6646"/>
                    <a:pt x="4052" y="4052"/>
                  </a:cubicBezTo>
                  <a:cubicBezTo>
                    <a:pt x="6646" y="1457"/>
                    <a:pt x="10165" y="0"/>
                    <a:pt x="13834" y="0"/>
                  </a:cubicBezTo>
                  <a:close/>
                </a:path>
              </a:pathLst>
            </a:custGeom>
            <a:solidFill>
              <a:srgbClr val="001737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7461785" cy="2409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35672" y="5691871"/>
            <a:ext cx="3829787" cy="807119"/>
            <a:chOff x="0" y="0"/>
            <a:chExt cx="539830" cy="1137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9830" cy="113768"/>
            </a:xfrm>
            <a:custGeom>
              <a:avLst/>
              <a:gdLst/>
              <a:ahLst/>
              <a:cxnLst/>
              <a:rect l="l" t="t" r="r" b="b"/>
              <a:pathLst>
                <a:path w="539830" h="113768">
                  <a:moveTo>
                    <a:pt x="56884" y="0"/>
                  </a:moveTo>
                  <a:lnTo>
                    <a:pt x="482946" y="0"/>
                  </a:lnTo>
                  <a:cubicBezTo>
                    <a:pt x="514362" y="0"/>
                    <a:pt x="539830" y="25468"/>
                    <a:pt x="539830" y="56884"/>
                  </a:cubicBezTo>
                  <a:lnTo>
                    <a:pt x="539830" y="56884"/>
                  </a:lnTo>
                  <a:cubicBezTo>
                    <a:pt x="539830" y="71970"/>
                    <a:pt x="533836" y="86439"/>
                    <a:pt x="523169" y="97107"/>
                  </a:cubicBezTo>
                  <a:cubicBezTo>
                    <a:pt x="512501" y="107775"/>
                    <a:pt x="498032" y="113768"/>
                    <a:pt x="482946" y="113768"/>
                  </a:cubicBezTo>
                  <a:lnTo>
                    <a:pt x="56884" y="113768"/>
                  </a:lnTo>
                  <a:cubicBezTo>
                    <a:pt x="25468" y="113768"/>
                    <a:pt x="0" y="88300"/>
                    <a:pt x="0" y="56884"/>
                  </a:cubicBezTo>
                  <a:lnTo>
                    <a:pt x="0" y="56884"/>
                  </a:lnTo>
                  <a:cubicBezTo>
                    <a:pt x="0" y="25468"/>
                    <a:pt x="25468" y="0"/>
                    <a:pt x="56884" y="0"/>
                  </a:cubicBezTo>
                  <a:close/>
                </a:path>
              </a:pathLst>
            </a:custGeom>
            <a:solidFill>
              <a:srgbClr val="0070A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539830" cy="170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823" y="5691871"/>
            <a:ext cx="3829787" cy="807119"/>
            <a:chOff x="0" y="0"/>
            <a:chExt cx="539830" cy="1137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9830" cy="113768"/>
            </a:xfrm>
            <a:custGeom>
              <a:avLst/>
              <a:gdLst/>
              <a:ahLst/>
              <a:cxnLst/>
              <a:rect l="l" t="t" r="r" b="b"/>
              <a:pathLst>
                <a:path w="539830" h="113768">
                  <a:moveTo>
                    <a:pt x="56884" y="0"/>
                  </a:moveTo>
                  <a:lnTo>
                    <a:pt x="482946" y="0"/>
                  </a:lnTo>
                  <a:cubicBezTo>
                    <a:pt x="514362" y="0"/>
                    <a:pt x="539830" y="25468"/>
                    <a:pt x="539830" y="56884"/>
                  </a:cubicBezTo>
                  <a:lnTo>
                    <a:pt x="539830" y="56884"/>
                  </a:lnTo>
                  <a:cubicBezTo>
                    <a:pt x="539830" y="71970"/>
                    <a:pt x="533836" y="86439"/>
                    <a:pt x="523169" y="97107"/>
                  </a:cubicBezTo>
                  <a:cubicBezTo>
                    <a:pt x="512501" y="107775"/>
                    <a:pt x="498032" y="113768"/>
                    <a:pt x="482946" y="113768"/>
                  </a:cubicBezTo>
                  <a:lnTo>
                    <a:pt x="56884" y="113768"/>
                  </a:lnTo>
                  <a:cubicBezTo>
                    <a:pt x="25468" y="113768"/>
                    <a:pt x="0" y="88300"/>
                    <a:pt x="0" y="56884"/>
                  </a:cubicBezTo>
                  <a:lnTo>
                    <a:pt x="0" y="56884"/>
                  </a:lnTo>
                  <a:cubicBezTo>
                    <a:pt x="0" y="25468"/>
                    <a:pt x="25468" y="0"/>
                    <a:pt x="56884" y="0"/>
                  </a:cubicBezTo>
                  <a:close/>
                </a:path>
              </a:pathLst>
            </a:custGeom>
            <a:solidFill>
              <a:srgbClr val="0070AF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539830" cy="170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83409" y="5691871"/>
            <a:ext cx="3829787" cy="807119"/>
            <a:chOff x="0" y="0"/>
            <a:chExt cx="539830" cy="1137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9830" cy="113768"/>
            </a:xfrm>
            <a:custGeom>
              <a:avLst/>
              <a:gdLst/>
              <a:ahLst/>
              <a:cxnLst/>
              <a:rect l="l" t="t" r="r" b="b"/>
              <a:pathLst>
                <a:path w="539830" h="113768">
                  <a:moveTo>
                    <a:pt x="56884" y="0"/>
                  </a:moveTo>
                  <a:lnTo>
                    <a:pt x="482946" y="0"/>
                  </a:lnTo>
                  <a:cubicBezTo>
                    <a:pt x="514362" y="0"/>
                    <a:pt x="539830" y="25468"/>
                    <a:pt x="539830" y="56884"/>
                  </a:cubicBezTo>
                  <a:lnTo>
                    <a:pt x="539830" y="56884"/>
                  </a:lnTo>
                  <a:cubicBezTo>
                    <a:pt x="539830" y="71970"/>
                    <a:pt x="533836" y="86439"/>
                    <a:pt x="523169" y="97107"/>
                  </a:cubicBezTo>
                  <a:cubicBezTo>
                    <a:pt x="512501" y="107775"/>
                    <a:pt x="498032" y="113768"/>
                    <a:pt x="482946" y="113768"/>
                  </a:cubicBezTo>
                  <a:lnTo>
                    <a:pt x="56884" y="113768"/>
                  </a:lnTo>
                  <a:cubicBezTo>
                    <a:pt x="25468" y="113768"/>
                    <a:pt x="0" y="88300"/>
                    <a:pt x="0" y="56884"/>
                  </a:cubicBezTo>
                  <a:lnTo>
                    <a:pt x="0" y="56884"/>
                  </a:lnTo>
                  <a:cubicBezTo>
                    <a:pt x="0" y="25468"/>
                    <a:pt x="25468" y="0"/>
                    <a:pt x="56884" y="0"/>
                  </a:cubicBezTo>
                  <a:close/>
                </a:path>
              </a:pathLst>
            </a:custGeom>
            <a:solidFill>
              <a:srgbClr val="0070AF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539830" cy="170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964734" y="5695229"/>
            <a:ext cx="3829787" cy="807119"/>
            <a:chOff x="0" y="0"/>
            <a:chExt cx="539830" cy="1137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9830" cy="113768"/>
            </a:xfrm>
            <a:custGeom>
              <a:avLst/>
              <a:gdLst/>
              <a:ahLst/>
              <a:cxnLst/>
              <a:rect l="l" t="t" r="r" b="b"/>
              <a:pathLst>
                <a:path w="539830" h="113768">
                  <a:moveTo>
                    <a:pt x="56884" y="0"/>
                  </a:moveTo>
                  <a:lnTo>
                    <a:pt x="482946" y="0"/>
                  </a:lnTo>
                  <a:cubicBezTo>
                    <a:pt x="514362" y="0"/>
                    <a:pt x="539830" y="25468"/>
                    <a:pt x="539830" y="56884"/>
                  </a:cubicBezTo>
                  <a:lnTo>
                    <a:pt x="539830" y="56884"/>
                  </a:lnTo>
                  <a:cubicBezTo>
                    <a:pt x="539830" y="71970"/>
                    <a:pt x="533836" y="86439"/>
                    <a:pt x="523169" y="97107"/>
                  </a:cubicBezTo>
                  <a:cubicBezTo>
                    <a:pt x="512501" y="107775"/>
                    <a:pt x="498032" y="113768"/>
                    <a:pt x="482946" y="113768"/>
                  </a:cubicBezTo>
                  <a:lnTo>
                    <a:pt x="56884" y="113768"/>
                  </a:lnTo>
                  <a:cubicBezTo>
                    <a:pt x="25468" y="113768"/>
                    <a:pt x="0" y="88300"/>
                    <a:pt x="0" y="56884"/>
                  </a:cubicBezTo>
                  <a:lnTo>
                    <a:pt x="0" y="56884"/>
                  </a:lnTo>
                  <a:cubicBezTo>
                    <a:pt x="0" y="25468"/>
                    <a:pt x="25468" y="0"/>
                    <a:pt x="56884" y="0"/>
                  </a:cubicBezTo>
                  <a:close/>
                </a:path>
              </a:pathLst>
            </a:custGeom>
            <a:solidFill>
              <a:srgbClr val="0070AF"/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539830" cy="170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21437" y="2128087"/>
            <a:ext cx="6156753" cy="1105699"/>
            <a:chOff x="0" y="0"/>
            <a:chExt cx="867828" cy="15585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7828" cy="155854"/>
            </a:xfrm>
            <a:custGeom>
              <a:avLst/>
              <a:gdLst/>
              <a:ahLst/>
              <a:cxnLst/>
              <a:rect l="l" t="t" r="r" b="b"/>
              <a:pathLst>
                <a:path w="867828" h="155854">
                  <a:moveTo>
                    <a:pt x="37724" y="0"/>
                  </a:moveTo>
                  <a:lnTo>
                    <a:pt x="830104" y="0"/>
                  </a:lnTo>
                  <a:cubicBezTo>
                    <a:pt x="850939" y="0"/>
                    <a:pt x="867828" y="16890"/>
                    <a:pt x="867828" y="37724"/>
                  </a:cubicBezTo>
                  <a:lnTo>
                    <a:pt x="867828" y="118130"/>
                  </a:lnTo>
                  <a:cubicBezTo>
                    <a:pt x="867828" y="138965"/>
                    <a:pt x="850939" y="155854"/>
                    <a:pt x="830104" y="155854"/>
                  </a:cubicBezTo>
                  <a:lnTo>
                    <a:pt x="37724" y="155854"/>
                  </a:lnTo>
                  <a:cubicBezTo>
                    <a:pt x="16890" y="155854"/>
                    <a:pt x="0" y="138965"/>
                    <a:pt x="0" y="118130"/>
                  </a:cubicBezTo>
                  <a:lnTo>
                    <a:pt x="0" y="37724"/>
                  </a:lnTo>
                  <a:cubicBezTo>
                    <a:pt x="0" y="16890"/>
                    <a:pt x="16890" y="0"/>
                    <a:pt x="37724" y="0"/>
                  </a:cubicBezTo>
                  <a:close/>
                </a:path>
              </a:pathLst>
            </a:custGeom>
            <a:solidFill>
              <a:srgbClr val="0070AF"/>
            </a:solidFill>
            <a:ln cap="rnd">
              <a:noFill/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867828" cy="21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6235080" y="6502349"/>
            <a:ext cx="5817841" cy="4114800"/>
          </a:xfrm>
          <a:custGeom>
            <a:avLst/>
            <a:gdLst/>
            <a:ahLst/>
            <a:cxnLst/>
            <a:rect l="l" t="t" r="r" b="b"/>
            <a:pathLst>
              <a:path w="5817841" h="4114800">
                <a:moveTo>
                  <a:pt x="0" y="0"/>
                </a:moveTo>
                <a:lnTo>
                  <a:pt x="5817840" y="0"/>
                </a:lnTo>
                <a:lnTo>
                  <a:pt x="5817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859673" y="3832791"/>
            <a:ext cx="5788771" cy="1172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Our Team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24021" y="5890826"/>
            <a:ext cx="2394832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Praneetha Gorli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32663" y="5887468"/>
            <a:ext cx="2645527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Pavan Kumar Bora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8161" y="5887468"/>
            <a:ext cx="3304808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Manaswi Priya Maddu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97659" y="5887468"/>
            <a:ext cx="2963938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Hari Krishna Neerasa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59673" y="461645"/>
            <a:ext cx="5788771" cy="1172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1">
                <a:solidFill>
                  <a:srgbClr val="001737"/>
                </a:solidFill>
                <a:latin typeface="Poppins Bold"/>
                <a:ea typeface="Poppins Bold"/>
                <a:cs typeface="Poppins Bold"/>
                <a:sym typeface="Poppins Bold"/>
              </a:rPr>
              <a:t>Guide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18783" y="2395490"/>
            <a:ext cx="3670552" cy="49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4"/>
              </a:lnSpc>
              <a:spcBef>
                <a:spcPct val="0"/>
              </a:spcBef>
            </a:pPr>
            <a:r>
              <a:rPr lang="en-US" sz="27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Dr. K. Chaitanya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917" b="-8291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454386" y="3299101"/>
            <a:ext cx="13379228" cy="3688798"/>
            <a:chOff x="0" y="0"/>
            <a:chExt cx="1885876" cy="5199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85876" cy="519956"/>
            </a:xfrm>
            <a:custGeom>
              <a:avLst/>
              <a:gdLst/>
              <a:ahLst/>
              <a:cxnLst/>
              <a:rect l="l" t="t" r="r" b="b"/>
              <a:pathLst>
                <a:path w="1885876" h="519956">
                  <a:moveTo>
                    <a:pt x="27197" y="0"/>
                  </a:moveTo>
                  <a:lnTo>
                    <a:pt x="1858679" y="0"/>
                  </a:lnTo>
                  <a:cubicBezTo>
                    <a:pt x="1873700" y="0"/>
                    <a:pt x="1885876" y="12176"/>
                    <a:pt x="1885876" y="27197"/>
                  </a:cubicBezTo>
                  <a:lnTo>
                    <a:pt x="1885876" y="492760"/>
                  </a:lnTo>
                  <a:cubicBezTo>
                    <a:pt x="1885876" y="499973"/>
                    <a:pt x="1883011" y="506890"/>
                    <a:pt x="1877910" y="511991"/>
                  </a:cubicBezTo>
                  <a:cubicBezTo>
                    <a:pt x="1872810" y="517091"/>
                    <a:pt x="1865892" y="519956"/>
                    <a:pt x="1858679" y="519956"/>
                  </a:cubicBezTo>
                  <a:lnTo>
                    <a:pt x="27197" y="519956"/>
                  </a:lnTo>
                  <a:cubicBezTo>
                    <a:pt x="12176" y="519956"/>
                    <a:pt x="0" y="507780"/>
                    <a:pt x="0" y="492760"/>
                  </a:cubicBezTo>
                  <a:lnTo>
                    <a:pt x="0" y="27197"/>
                  </a:lnTo>
                  <a:cubicBezTo>
                    <a:pt x="0" y="12176"/>
                    <a:pt x="12176" y="0"/>
                    <a:pt x="27197" y="0"/>
                  </a:cubicBezTo>
                  <a:close/>
                </a:path>
              </a:pathLst>
            </a:custGeom>
            <a:solidFill>
              <a:srgbClr val="0070AF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85876" cy="558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07814" y="3539767"/>
            <a:ext cx="11472373" cy="351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22"/>
              </a:lnSpc>
            </a:pPr>
            <a:r>
              <a:rPr lang="en-US" sz="13981" b="1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517</Words>
  <Application>Microsoft Office PowerPoint</Application>
  <PresentationFormat>Custom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Poppins Bold</vt:lpstr>
      <vt:lpstr>Georgia Pro Bold</vt:lpstr>
      <vt:lpstr>Calibri</vt:lpstr>
      <vt:lpstr>Poppins</vt:lpstr>
      <vt:lpstr>Georgia Pro</vt:lpstr>
      <vt:lpstr>Arial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TRIP-Sense:</dc:title>
  <cp:lastModifiedBy>bhavana maddu</cp:lastModifiedBy>
  <cp:revision>3</cp:revision>
  <dcterms:created xsi:type="dcterms:W3CDTF">2006-08-16T00:00:00Z</dcterms:created>
  <dcterms:modified xsi:type="dcterms:W3CDTF">2025-11-09T19:35:56Z</dcterms:modified>
  <dc:identifier>DAG38Ppojbo</dc:identifier>
</cp:coreProperties>
</file>